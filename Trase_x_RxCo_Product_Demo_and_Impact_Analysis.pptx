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2FF"/>
                </a:solidFill>
                <a:latin typeface="Calibri"/>
              </a:rPr>
              <a:t>TRASE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Trase × RxCo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D2FF"/>
                </a:solidFill>
                <a:latin typeface="Calibri"/>
              </a:rPr>
              <a:t>Product Demo &amp; Impact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Prepared for: RxCo Leadership Team  |  Date: March 16, 2026  |  Prepared by: Technical Program Manager, Trase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 b="0">
                <a:solidFill>
                  <a:srgbClr val="333333"/>
                </a:solidFill>
                <a:latin typeface="Calibri"/>
              </a:rPr>
              <a:t>1.  RxCo Workflow Overview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333333"/>
                </a:solidFill>
                <a:latin typeface="Calibri"/>
              </a:rPr>
              <a:t>2.  Product Demo — Eligibility Determination Agent
     • Live walkthrough    • Technical architecture    • Edge case handling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333333"/>
                </a:solidFill>
                <a:latin typeface="Calibri"/>
              </a:rPr>
              <a:t>3.  Impact Analysis
     • Current cost baseline    • Savings by automation tier    • 12-month ROI projection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333333"/>
                </a:solidFill>
                <a:latin typeface="Calibri"/>
              </a:rPr>
              <a:t>4.  Assumptions &amp; Validation Plan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333333"/>
                </a:solidFill>
                <a:latin typeface="Calibri"/>
              </a:rPr>
              <a:t>5.  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RxCo’s enrollment workflow currently costs $1.50M–$2.00M annually at the 50,000-member scale. Trase’s AI agents can automate the most labor-intensive, rules-based steps — starting with Eligibility Determination — and progressively extend across the full six-step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914400"/>
            <a:ext cx="3474720" cy="5303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005840"/>
            <a:ext cx="3291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3.1×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Projected Year 1 ROI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$599K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Net Annual Savings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Exceeds 2× guarantee by 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Business Model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5715000"/>
                <a:gridCol w="381000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Pricing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D2C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Individual patients enroll directly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$50 / member / month / Rx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B2B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MSOs, self-funded orgs, employer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15% shared-savings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74320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1">
                <a:solidFill>
                  <a:srgbClr val="1A1A2E"/>
                </a:solidFill>
                <a:latin typeface="Calibri"/>
              </a:rPr>
              <a:t>Key Metrics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333333"/>
                </a:solidFill>
                <a:latin typeface="Calibri"/>
              </a:rPr>
              <a:t>•  50,000 enrolled members  (25K D2C / 25K B2B)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333333"/>
                </a:solidFill>
                <a:latin typeface="Calibri"/>
              </a:rPr>
              <a:t>•  Average medication cost per patient: $2,500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333333"/>
                </a:solidFill>
                <a:latin typeface="Calibri"/>
              </a:rPr>
              <a:t>•  RxCo revenue per B2B case: $375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Current Enrollment Workflow — 6 Steps, 90–120 Minutes, $30–$40 per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783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[1]
Eligibility
Determination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23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Calibri"/>
              </a:rPr>
              <a:t>28 min | $9.33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005840"/>
            <a:ext cx="1783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109728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[2]
Patient
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423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Calibri"/>
              </a:rPr>
              <a:t>18 min | $6.00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6" y="1005840"/>
            <a:ext cx="1783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109728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[3]
Patient
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6" y="2423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Calibri"/>
              </a:rPr>
              <a:t>12 min | $4.00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7024" y="1005840"/>
            <a:ext cx="1783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09728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[4]
Provider
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423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Calibri"/>
              </a:rPr>
              <a:t>17 min | $5.67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9832" y="1005840"/>
            <a:ext cx="1783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2" y="109728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[5]
Pharma
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423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Calibri"/>
              </a:rPr>
              <a:t>18 min | $6.00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005840"/>
            <a:ext cx="1783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09728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[6]
Follow-Up &amp;
Renewal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423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Calibri"/>
              </a:rPr>
              <a:t>12 min | $4.00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5029200"/>
            <a:ext cx="667512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512064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Annual cost at 50,000 members: $1,750,000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Phased Automation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1463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TIER 1 — Immediate (Pre-Launch)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Eligibility Determination  |  No patient interaction  |  Deploy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651760"/>
            <a:ext cx="11612880" cy="1463040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TIER 2 — Near-Term (Post-Launch)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Document processing, form population, signature collection, pharma submission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297680"/>
            <a:ext cx="11612880" cy="1463040"/>
          </a:xfrm>
          <a:prstGeom prst="rect">
            <a:avLst/>
          </a:prstGeom>
          <a:solidFill>
            <a:srgbClr val="00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TIER 3 — Deferred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Patient interaction agents  |  Provider review optimization  |  Benchmark against call center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9418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D2FF"/>
                </a:solidFill>
                <a:latin typeface="Calibri"/>
              </a:rPr>
              <a:t>Eligibility Determination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Calibri"/>
              </a:rPr>
              <a:t>TRASE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We’re Demoing Step 1: Eligibility Determination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Calibri"/>
              </a:rPr>
              <a:t>1.  Agreed starting point — aligned in pilot scoping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Calibri"/>
              </a:rPr>
              <a:t>2.  Zero patient interaction risk — operates on claims data only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Calibri"/>
              </a:rPr>
              <a:t>3.  Highest time consumption — 28 min (25% of total workflow)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Calibri"/>
              </a:rPr>
              <a:t>4.  Rules-based &amp; auditable — ideal for healthcare compliance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333333"/>
                </a:solidFill>
                <a:latin typeface="Calibri"/>
              </a:rPr>
              <a:t>5.  Volume multiplier — scales worst manually, best automated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Flow — What You’ll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17830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D2FF"/>
                </a:solidFill>
                <a:latin typeface="Calibri"/>
              </a:rPr>
              <a:t>Phase 1: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Operator uploads 500-record synthetic claims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005840"/>
            <a:ext cx="17830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8" y="109728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D2FF"/>
                </a:solidFill>
                <a:latin typeface="Calibri"/>
              </a:rPr>
              <a:t>Phase 2: 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6002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Operator reviews / adjusts eligibility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6" y="1005840"/>
            <a:ext cx="17830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9936" y="109728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D2FF"/>
                </a:solidFill>
                <a:latin typeface="Calibri"/>
              </a:rPr>
              <a:t>Phase 3: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6" y="16002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Agent parses, cross-references, scores (45 sec)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7024" y="1005840"/>
            <a:ext cx="17830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2744" y="109728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D2FF"/>
                </a:solidFill>
                <a:latin typeface="Calibri"/>
              </a:rPr>
              <a:t>Phase 4: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16002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Dashboard: ranked patients, scores, exceptions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9832" y="1005840"/>
            <a:ext cx="17830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109728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D2FF"/>
                </a:solidFill>
                <a:latin typeface="Calibri"/>
              </a:rPr>
              <a:t>Phase 5: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16002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Operator inspects 3 flagged edge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005840"/>
            <a:ext cx="17830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09728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D2FF"/>
                </a:solidFill>
                <a:latin typeface="Calibri"/>
              </a:rPr>
              <a:t>Phase 6: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60020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CSV + PDF export, "Ready for Step 2" 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Results: 412 eligible  |  27 flagged  |  61 ineligible  |  Processing: 45 seconds vs. ~210 hours manually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17830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Claims File
Upload
(CSV/Excel/HL7)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5104" y="2011680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005840"/>
            <a:ext cx="17830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14300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Ingestion &amp;
Parsing Engine
[LIVE]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9624" y="2011680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05840"/>
            <a:ext cx="17830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114300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Rules Engine
[LIVE]
• LIS check
• Insurance filter
• Copay threshold
• Formulary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4144" y="2011680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005840"/>
            <a:ext cx="1783080" cy="2286000"/>
          </a:xfrm>
          <a:prstGeom prst="rect">
            <a:avLst/>
          </a:prstGeom>
          <a:solidFill>
            <a:srgbClr val="99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14300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Drug Formulary
DB
[MOCK — 10 meds]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2011680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005840"/>
            <a:ext cx="17830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14300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Eligibility
Scoring &amp;
Ranking [LIVE]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2011680"/>
            <a:ext cx="7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55480" y="1005840"/>
            <a:ext cx="17830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14300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Output
Dashboard
[MOCK] &amp;
Export API
[LIVE]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5029200" cy="640080"/>
          </a:xfrm>
          <a:prstGeom prst="rect">
            <a:avLst/>
          </a:prstGeom>
          <a:solidFill>
            <a:srgbClr val="22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Green = Live Production  |  Yellow = Mock /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the Agent Handles Edge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4838700"/>
                <a:gridCol w="3870960"/>
              </a:tblGrid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Agent Response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Trust Message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Malformed data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Flags errors, processes clean records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“Nothing fails silently”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Multi-program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Ranks by savings + approval likelihood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“Best option with full reasoning”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Low confidence (&lt;70)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Routes to exception queue with analysis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“Pre-analyzed ambiguity”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System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Shows partial results, continues async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“Nothing is lost”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Borderline threshold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Flags as near-threshold, one-click override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“Volume for agent, judgment for you”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5765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Drug not in formulary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Logs as coverage gap insight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“Strategic intelligence”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9418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IMPACT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D2FF"/>
                </a:solidFill>
                <a:latin typeface="Calibri"/>
              </a:rPr>
              <a:t>Quantifying the Opportunity Across All 6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Calibri"/>
              </a:rPr>
              <a:t>TRASE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Current Manual Enrollment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645920"/>
                <a:gridCol w="1645920"/>
              </a:tblGrid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 (min)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 / Case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1. Eligibility Determination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$9.33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2. Initial Patient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3. Patient Authorization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$4.00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4. Provider Coordination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$5.67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5. Pharma Submission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$6.00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6. Follow-Up &amp;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$35.00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778240" y="914400"/>
            <a:ext cx="3200400" cy="2011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0058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$1,750,000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Annual Cost at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50,000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Annual Savings by Tier (50,000 Members)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137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TIER 1 — $396,667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Step 1: 90% automation rate, 85% time reduction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60320"/>
            <a:ext cx="11612880" cy="1371600"/>
          </a:xfrm>
          <a:prstGeom prst="rect">
            <a:avLst/>
          </a:prstGeom>
          <a:solidFill>
            <a:srgbClr val="00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TIER 2 — $540,000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Step 3: $160K  |  Step 4: $170K  |  Step 5: $210K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14800"/>
            <a:ext cx="11612880" cy="1371600"/>
          </a:xfrm>
          <a:prstGeom prst="rect">
            <a:avLst/>
          </a:prstGeom>
          <a:solidFill>
            <a:srgbClr val="00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TIER 3 — $230,000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Step 2: $120K  |  Step 6: $110K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5715000"/>
            <a:ext cx="5760720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580644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TOTAL GROSS SAVINGS: $1,166,667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12-Month ROI Projection — All Tiers Combined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</a:tblGrid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Total Gross Savings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$892,122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Trase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$275,125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HITL Overhead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$17,917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NET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$599,081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ROI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3.1×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Guarantee met?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Ramp-Up: 70% automation Month 1 → 92% by Month 4+  |  Accuracy: 88% Month 1 → 97% Month 4+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914400"/>
            <a:ext cx="3840480" cy="4389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00584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3.1× ROI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$599K Net Savings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Guarantee: 2×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Delivered: 3.1×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55% above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This Means for RxCo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D2FF"/>
                </a:solidFill>
                <a:latin typeface="Calibri"/>
              </a:rPr>
              <a:t>23,300
NURSE-HOURS FREED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Equivalent of 11.2 FTEs redirected from
data mining to patient engagement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14400"/>
            <a:ext cx="530352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51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D2FF"/>
                </a:solidFill>
                <a:latin typeface="Calibri"/>
              </a:rPr>
              <a:t>57–65%
COST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Marginal enrollment cost drops from
$35 → $12–$15 / member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530352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D2FF"/>
                </a:solidFill>
                <a:latin typeface="Calibri"/>
              </a:rPr>
              <a:t>$525K
MARGIN RETAINED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9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B2B enrollment cost drag drops from
9.3% → 3.7%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520440"/>
            <a:ext cx="530352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D2FF"/>
                </a:solidFill>
                <a:latin typeface="Calibri"/>
              </a:rPr>
              <a:t>28 MIN → 5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709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Eligibility determination processing time
(+ 4 min human review)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Assumptions &amp; How We’ll Validate in the Pilot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0"/>
                <a:gridCol w="6774180"/>
              </a:tblGrid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Pilot Validation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$20/hr labor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Confirm actual blended rate with RxCo Ops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105 min / enrollment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Time-study: shadow 50 cases in Weeks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90% automation (Tier 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Track daily; target ≥85% by Week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88%→97% accuracy ramp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Audit 20 decisions/day; retrain 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50K annual volume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Confirm run-rate; model at 40K &amp; 75K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5765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$3→$2 HITL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Measure nurse review time; should decrease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March 19: </a:t>
            </a:r>
            <a:r>
              <a:rPr sz="1500" b="0">
                <a:solidFill>
                  <a:srgbClr val="333333"/>
                </a:solidFill>
                <a:latin typeface="Calibri"/>
              </a:rPr>
              <a:t>RxCo provides claims schema + eligibility criteria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March 19–26: </a:t>
            </a:r>
            <a:r>
              <a:rPr sz="1500" b="0">
                <a:solidFill>
                  <a:srgbClr val="333333"/>
                </a:solidFill>
                <a:latin typeface="Calibri"/>
              </a:rPr>
              <a:t>Trase builds demo (1 week)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March 27: </a:t>
            </a:r>
            <a:r>
              <a:rPr sz="1500" b="0">
                <a:solidFill>
                  <a:srgbClr val="333333"/>
                </a:solidFill>
                <a:latin typeface="Calibri"/>
              </a:rPr>
              <a:t>Demo walkthrough with RxCo leadership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March 28: </a:t>
            </a:r>
            <a:r>
              <a:rPr sz="1500" b="0">
                <a:solidFill>
                  <a:srgbClr val="333333"/>
                </a:solidFill>
                <a:latin typeface="Calibri"/>
              </a:rPr>
              <a:t>8-week pilot begins (1 practice, 3–4 locations)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Fridays: </a:t>
            </a:r>
            <a:r>
              <a:rPr sz="1500" b="0">
                <a:solidFill>
                  <a:srgbClr val="333333"/>
                </a:solidFill>
                <a:latin typeface="Calibri"/>
              </a:rPr>
              <a:t>Weekly accuracy &amp; performance reviews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May 22: </a:t>
            </a:r>
            <a:r>
              <a:rPr sz="1500" b="0">
                <a:solidFill>
                  <a:srgbClr val="333333"/>
                </a:solidFill>
                <a:latin typeface="Calibri"/>
              </a:rPr>
              <a:t>Pilot impact card delivered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May 25–29: </a:t>
            </a:r>
            <a:r>
              <a:rPr sz="1500" b="0">
                <a:solidFill>
                  <a:srgbClr val="333333"/>
                </a:solidFill>
                <a:latin typeface="Calibri"/>
              </a:rPr>
              <a:t>Agree on long-term subscription rate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June 2026: </a:t>
            </a:r>
            <a:r>
              <a:rPr sz="1500" b="0">
                <a:solidFill>
                  <a:srgbClr val="333333"/>
                </a:solidFill>
                <a:latin typeface="Calibri"/>
              </a:rPr>
              <a:t>Scope Tier 2 automations for Q3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806440"/>
            <a:ext cx="1143000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Trase’s 2× ROI guarantee applies contractually — if we don’t deliver, you don’t pay.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Calibri"/>
              </a:rPr>
              <a:t>TRASE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